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3156"/>
    <p:restoredTop sz="94610"/>
  </p:normalViewPr>
  <p:slideViewPr>
    <p:cSldViewPr snapToGrid="0" snapToObjects="1">
      <p:cViewPr>
        <p:scale>
          <a:sx n="71" d="100"/>
          <a:sy n="71" d="100"/>
        </p:scale>
        <p:origin x="-48" y="1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5380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DAB49-D2FF-EAA9-88A5-A6C6A1704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D65D23-6877-9BD8-73FB-AB0AE90A4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E1C020-CA8F-4DDE-4C3B-99D70F3841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D82C3-F48B-1CCD-4423-BD2E44997D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0192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1554480"/>
            <a:ext cx="164592" cy="2103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9D6D0"/>
                </a:solidFill>
              </a:rPr>
              <a:t>CSC 810: Artificial Intelligence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</a:rPr>
              <a:t>Week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Search Techniques &amp;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Problem Solving Strategies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3063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EEAD4"/>
                </a:solidFill>
              </a:rPr>
              <a:t>BFS · DFS · Heuristic Search · A*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3547872"/>
            <a:ext cx="8321040" cy="182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411480" y="361188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CB3D8"/>
                </a:solidFill>
              </a:rPr>
              <a:t>Lecturer Note  ▸  2 Lecture Hours + 2 Practical Hours (Google Colab)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80A0"/>
                </a:solidFill>
              </a:rPr>
              <a:t>Russell &amp; Norvig Ch. 3–4  |  AI: A Modern Approach (4th ed.)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📋  Week 2 at a Glance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91440" cy="10789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521208" y="1143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🔍  What is Search in AI?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1208" y="15819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Why search matters, problem formulation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91440" cy="10789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4910328" y="1143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🗺️  Problem-Solving Framework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0328" y="15819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States, actions, goal test, path cost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91440" cy="10789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521208" y="2377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🌲  Uninformed Search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" y="28163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BFS — Depth-First Search (DFS)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286000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4709160" y="2286000"/>
            <a:ext cx="91440" cy="10789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4910328" y="2377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⭐  Informed Search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10328" y="28163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Greedy Best-First, A* algorithm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20440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320040" y="3520440"/>
            <a:ext cx="91440" cy="10789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521208" y="3611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📡  AI Search Applications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" y="40507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Routing, game trees, planning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520440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5" name="Shape 23"/>
          <p:cNvSpPr/>
          <p:nvPr/>
        </p:nvSpPr>
        <p:spPr>
          <a:xfrm>
            <a:off x="4709160" y="3520440"/>
            <a:ext cx="91440" cy="10789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6" name="Text 24"/>
          <p:cNvSpPr/>
          <p:nvPr/>
        </p:nvSpPr>
        <p:spPr>
          <a:xfrm>
            <a:off x="4910328" y="3611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💻  Google Colab Lab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10328" y="40507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Implement BFS, DFS and A* in Python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🔍  What is Search in AI?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</a:rPr>
              <a:t>Search is how an AI agent finds a sequence of actions to reach a goal from an initial state.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1737360" cy="91440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Initial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737360"/>
            <a:ext cx="1737360" cy="914400"/>
          </a:xfrm>
          <a:prstGeom prst="rect">
            <a:avLst/>
          </a:prstGeom>
          <a:solidFill>
            <a:srgbClr val="1A2B5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2468880" y="17373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Search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Algorithm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737360"/>
            <a:ext cx="1737360" cy="914400"/>
          </a:xfrm>
          <a:prstGeom prst="rect">
            <a:avLst/>
          </a:prstGeom>
          <a:solidFill>
            <a:srgbClr val="64748B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4572000" y="17373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Explored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1737360"/>
            <a:ext cx="1737360" cy="914400"/>
          </a:xfrm>
          <a:prstGeom prst="rect">
            <a:avLst/>
          </a:prstGeom>
          <a:solidFill>
            <a:srgbClr val="16A34A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6675120" y="17373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Goal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State 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03120" y="2176272"/>
            <a:ext cx="384048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Shape 12"/>
          <p:cNvSpPr/>
          <p:nvPr/>
        </p:nvSpPr>
        <p:spPr>
          <a:xfrm>
            <a:off x="2468880" y="2103120"/>
            <a:ext cx="36576" cy="14630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5" name="Shape 13"/>
          <p:cNvSpPr/>
          <p:nvPr/>
        </p:nvSpPr>
        <p:spPr>
          <a:xfrm>
            <a:off x="4206240" y="2176272"/>
            <a:ext cx="384048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Shape 14"/>
          <p:cNvSpPr/>
          <p:nvPr/>
        </p:nvSpPr>
        <p:spPr>
          <a:xfrm>
            <a:off x="4572000" y="2103120"/>
            <a:ext cx="36576" cy="14630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6309360" y="2176272"/>
            <a:ext cx="384048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6"/>
          <p:cNvSpPr/>
          <p:nvPr/>
        </p:nvSpPr>
        <p:spPr>
          <a:xfrm>
            <a:off x="6675120" y="2103120"/>
            <a:ext cx="36576" cy="14630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841248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548640" y="2907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Real-World Examples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3101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🗺️ Google Maps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0" y="33101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Finds shortest path between locations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3101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♟️ Chess AI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33101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Searches game tree for best move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9684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📦 Delivery Robot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0" y="39684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Plans route avoiding obstacles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9684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🧩 Puzzle Solver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0" y="39684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Finds sequence of moves to solve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🗺️  Problem Formulation — The 5 Components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Before we search, we must formally define the problem.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5270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Initial State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20391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Where the agent starts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e.g. Abuja (Nigeria route-finding)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417320"/>
            <a:ext cx="269748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3246120" y="15087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32461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15270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Actions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20391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Possible moves from each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e.g. Go(Abuja → Lokoja)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1417320"/>
            <a:ext cx="269748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6" name="Shape 14"/>
          <p:cNvSpPr/>
          <p:nvPr/>
        </p:nvSpPr>
        <p:spPr>
          <a:xfrm>
            <a:off x="6080760" y="15087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60807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15270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Transition 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9048" y="20391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Result of applying an action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e.g. Result(Abuja, Go-Lokoja) = Lokoja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063240"/>
            <a:ext cx="269748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411480" y="31546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4114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31729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Goal Test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" y="368503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Is the current state the goal?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e.g. In(Lagos)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4680" y="3063240"/>
            <a:ext cx="269748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6" name="Shape 24"/>
          <p:cNvSpPr/>
          <p:nvPr/>
        </p:nvSpPr>
        <p:spPr>
          <a:xfrm>
            <a:off x="3246120" y="31546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32461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40480" y="31729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Path Cost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64408" y="368503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Total cost of the solution path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e.g. sum of road distances (km)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🌊  Breadth-First Search (BFS)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365760" y="9784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Uninformed Search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96112" y="44274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</a:rPr>
              <a:t>Explores all nodes level by level — closest nodes first.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55648" y="1408176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1755648" y="14081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32688" y="2212848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932688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78608" y="2212848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2578608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flipH="1">
            <a:off x="1371600" y="1920240"/>
            <a:ext cx="640080" cy="457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Shape 12"/>
          <p:cNvSpPr/>
          <p:nvPr/>
        </p:nvSpPr>
        <p:spPr>
          <a:xfrm>
            <a:off x="2011680" y="1920240"/>
            <a:ext cx="822960" cy="29260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Shape 13"/>
          <p:cNvSpPr/>
          <p:nvPr/>
        </p:nvSpPr>
        <p:spPr>
          <a:xfrm>
            <a:off x="384048" y="3035808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384048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98448" y="3035808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1298448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12848" y="3035808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2212848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35808" y="3035808"/>
            <a:ext cx="512064" cy="51206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3035808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flipH="1">
            <a:off x="676656" y="2724912"/>
            <a:ext cx="512064" cy="31089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Shape 22"/>
          <p:cNvSpPr/>
          <p:nvPr/>
        </p:nvSpPr>
        <p:spPr>
          <a:xfrm>
            <a:off x="1188720" y="2724912"/>
            <a:ext cx="365760" cy="31089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Shape 23"/>
          <p:cNvSpPr/>
          <p:nvPr/>
        </p:nvSpPr>
        <p:spPr>
          <a:xfrm flipH="1">
            <a:off x="2560320" y="2724912"/>
            <a:ext cx="274320" cy="38404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Shape 24"/>
          <p:cNvSpPr/>
          <p:nvPr/>
        </p:nvSpPr>
        <p:spPr>
          <a:xfrm>
            <a:off x="2834640" y="2724912"/>
            <a:ext cx="457200" cy="31089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365760" y="15544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Level 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23774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Level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971800" y="3566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6A34A"/>
                </a:solidFill>
              </a:rPr>
              <a:t>Level 2 (Goal!)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8587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Order visited: A → B → C → D → E → F → G 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931920" y="1051560"/>
            <a:ext cx="48463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2" name="Text 30"/>
          <p:cNvSpPr/>
          <p:nvPr/>
        </p:nvSpPr>
        <p:spPr>
          <a:xfrm>
            <a:off x="4114800" y="11247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</a:rPr>
              <a:t>BFS Properties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0" y="1600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Complete?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✅ Yes (finds a solution if it exists)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0" y="2103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Optimal?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72200" y="21031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✅ Yes (shortest path in unweighted graphs)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0" y="2606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Time Complexity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72200" y="2606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O(b^d)  — b=branching, d=depth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0" y="3108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Space Complexity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72200" y="3108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O(b^d)  — keeps all nodes in memory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0" y="36118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Data Structure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72200" y="36118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🗃️ Queue (FIFO)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14800" y="4114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Best for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72200" y="4114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Shallow goals / unweighted graphs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🕳️  Depth-First Search (DFS)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365760" y="9784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Uninformed Search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25980" y="3961927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</a:rPr>
              <a:t>Explores as deep as possible along each branch before backtracking.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55648" y="1408176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1755648" y="14081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21992" y="117957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①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32688" y="2212848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932688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99032" y="19842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②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78608" y="2212848"/>
            <a:ext cx="512064" cy="512064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2578608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flipH="1">
            <a:off x="1399032" y="1920240"/>
            <a:ext cx="612648" cy="37490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Shape 14"/>
          <p:cNvSpPr/>
          <p:nvPr/>
        </p:nvSpPr>
        <p:spPr>
          <a:xfrm>
            <a:off x="2011680" y="1920240"/>
            <a:ext cx="822960" cy="29260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384048" y="3035808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384048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" y="28072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③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298448" y="3035808"/>
            <a:ext cx="512064" cy="512064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1298448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12848" y="3035808"/>
            <a:ext cx="512064" cy="512064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2212848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035808" y="3035808"/>
            <a:ext cx="512064" cy="51206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3035808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flipH="1">
            <a:off x="850391" y="2724912"/>
            <a:ext cx="338329" cy="39319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Shape 25"/>
          <p:cNvSpPr/>
          <p:nvPr/>
        </p:nvSpPr>
        <p:spPr>
          <a:xfrm>
            <a:off x="1188720" y="2724912"/>
            <a:ext cx="365760" cy="31089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Shape 26"/>
          <p:cNvSpPr/>
          <p:nvPr/>
        </p:nvSpPr>
        <p:spPr>
          <a:xfrm flipH="1">
            <a:off x="2624328" y="2724912"/>
            <a:ext cx="210312" cy="38404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Shape 27"/>
          <p:cNvSpPr/>
          <p:nvPr/>
        </p:nvSpPr>
        <p:spPr>
          <a:xfrm>
            <a:off x="2834640" y="2724912"/>
            <a:ext cx="457200" cy="31089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0" name="Shape 28"/>
          <p:cNvSpPr/>
          <p:nvPr/>
        </p:nvSpPr>
        <p:spPr>
          <a:xfrm>
            <a:off x="384048" y="3858768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384048" y="3858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0392" y="3630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④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3547872"/>
            <a:ext cx="0" cy="310896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4" name="Text 32"/>
          <p:cNvSpPr/>
          <p:nvPr/>
        </p:nvSpPr>
        <p:spPr>
          <a:xfrm>
            <a:off x="320040" y="4572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DFS dives deep: A→B→D→H (backtracks if stuck)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931920" y="1051560"/>
            <a:ext cx="48463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6" name="Text 34"/>
          <p:cNvSpPr/>
          <p:nvPr/>
        </p:nvSpPr>
        <p:spPr>
          <a:xfrm>
            <a:off x="4114800" y="11247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</a:rPr>
              <a:t>DFS Properties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114800" y="1600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Complete?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7220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⚠️ No (fails in infinite-depth spaces)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0" y="2103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Optimal?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72200" y="21031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❌ No (may find suboptimal path)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0" y="2606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Time Complexity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72200" y="2606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O(b^m)  — m=max depth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14800" y="3108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Space Complexity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72200" y="3108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O(bm)  — only current path in memory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114800" y="36118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Data Structure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72200" y="36118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📚 Stack (LIFO)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114800" y="4114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Best for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172200" y="4114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Deep goals / memory-constrained settings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⚖️  BFS vs DFS — Side-by-Side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457200"/>
          </a:xfrm>
          <a:prstGeom prst="rect">
            <a:avLst/>
          </a:prstGeom>
          <a:solidFill>
            <a:srgbClr val="1A2B5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6" name="Shape 4"/>
          <p:cNvSpPr/>
          <p:nvPr/>
        </p:nvSpPr>
        <p:spPr>
          <a:xfrm>
            <a:off x="6080760" y="1005840"/>
            <a:ext cx="2743200" cy="457200"/>
          </a:xfrm>
          <a:prstGeom prst="rect">
            <a:avLst/>
          </a:prstGeom>
          <a:solidFill>
            <a:srgbClr val="1A2B5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Property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BFS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8076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DFS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554480"/>
            <a:ext cx="2743200" cy="438912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3200400" y="1554480"/>
            <a:ext cx="2743200" cy="438912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2" name="Shape 10"/>
          <p:cNvSpPr/>
          <p:nvPr/>
        </p:nvSpPr>
        <p:spPr>
          <a:xfrm>
            <a:off x="6080760" y="1554480"/>
            <a:ext cx="2743200" cy="438912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411480" y="15544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Data Structure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5544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Queue (FIFO)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15544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Stack (LIFO)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029968"/>
            <a:ext cx="27432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3200400" y="2029968"/>
            <a:ext cx="27432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8" name="Shape 16"/>
          <p:cNvSpPr/>
          <p:nvPr/>
        </p:nvSpPr>
        <p:spPr>
          <a:xfrm>
            <a:off x="6080760" y="2029968"/>
            <a:ext cx="27432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411480" y="20299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Order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20299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Level by level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72200" y="20299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Branch by branch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505456"/>
            <a:ext cx="2743200" cy="438912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3200400" y="2505456"/>
            <a:ext cx="2743200" cy="438912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4" name="Shape 22"/>
          <p:cNvSpPr/>
          <p:nvPr/>
        </p:nvSpPr>
        <p:spPr>
          <a:xfrm>
            <a:off x="6080760" y="2505456"/>
            <a:ext cx="2743200" cy="438912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411480" y="250545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Completeness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250545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✅ Always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250545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⚠️ Only finite spaces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2980944"/>
            <a:ext cx="27432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9" name="Shape 27"/>
          <p:cNvSpPr/>
          <p:nvPr/>
        </p:nvSpPr>
        <p:spPr>
          <a:xfrm>
            <a:off x="3200400" y="2980944"/>
            <a:ext cx="27432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0" name="Shape 28"/>
          <p:cNvSpPr/>
          <p:nvPr/>
        </p:nvSpPr>
        <p:spPr>
          <a:xfrm>
            <a:off x="6080760" y="2980944"/>
            <a:ext cx="27432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411480" y="298094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Optimality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91840" y="298094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✅ Unweighted graphs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298094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❌ Not guaranteed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3456432"/>
            <a:ext cx="2743200" cy="438912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5" name="Shape 33"/>
          <p:cNvSpPr/>
          <p:nvPr/>
        </p:nvSpPr>
        <p:spPr>
          <a:xfrm>
            <a:off x="3200400" y="3456432"/>
            <a:ext cx="2743200" cy="438912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6" name="Shape 34"/>
          <p:cNvSpPr/>
          <p:nvPr/>
        </p:nvSpPr>
        <p:spPr>
          <a:xfrm>
            <a:off x="6080760" y="3456432"/>
            <a:ext cx="2743200" cy="438912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7" name="Text 35"/>
          <p:cNvSpPr/>
          <p:nvPr/>
        </p:nvSpPr>
        <p:spPr>
          <a:xfrm>
            <a:off x="411480" y="34564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Memory Usage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91840" y="34564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High (stores all nodes)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72200" y="34564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Low (stores current path)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3931920"/>
            <a:ext cx="27432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41" name="Shape 39"/>
          <p:cNvSpPr/>
          <p:nvPr/>
        </p:nvSpPr>
        <p:spPr>
          <a:xfrm>
            <a:off x="3200400" y="3931920"/>
            <a:ext cx="27432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42" name="Shape 40"/>
          <p:cNvSpPr/>
          <p:nvPr/>
        </p:nvSpPr>
        <p:spPr>
          <a:xfrm>
            <a:off x="6080760" y="3931920"/>
            <a:ext cx="27432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43" name="Text 41"/>
          <p:cNvSpPr/>
          <p:nvPr/>
        </p:nvSpPr>
        <p:spPr>
          <a:xfrm>
            <a:off x="411480" y="39319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Speed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91840" y="39319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Slow for deep goals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72200" y="39319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Fast for deep goals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" y="4407408"/>
            <a:ext cx="2743200" cy="438912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47" name="Shape 45"/>
          <p:cNvSpPr/>
          <p:nvPr/>
        </p:nvSpPr>
        <p:spPr>
          <a:xfrm>
            <a:off x="3200400" y="4407408"/>
            <a:ext cx="2743200" cy="438912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48" name="Shape 46"/>
          <p:cNvSpPr/>
          <p:nvPr/>
        </p:nvSpPr>
        <p:spPr>
          <a:xfrm>
            <a:off x="6080760" y="4407408"/>
            <a:ext cx="2743200" cy="438912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49" name="Text 47"/>
          <p:cNvSpPr/>
          <p:nvPr/>
        </p:nvSpPr>
        <p:spPr>
          <a:xfrm>
            <a:off x="411480" y="44074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Use Case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291840" y="44074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Shortest path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172200" y="44074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Maze, tree traversal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⭐  Informed Search — Heuristics &amp; A*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365760" y="9784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Informed Search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65960" y="9784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</a:rPr>
              <a:t>Uses problem-specific knowledge (heuristics) to guide the search toward the goal more efficiently.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</a:rPr>
              <a:t>What is a Heuristic? h(n)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90195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An estimate of the cost from node n to the goal.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Must be admissible: never overestimate actual cost.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114800" cy="1371600"/>
          </a:xfrm>
          <a:prstGeom prst="rect">
            <a:avLst/>
          </a:prstGeom>
          <a:solidFill>
            <a:srgbClr val="1A2B5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4846320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A* Formula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f(n)  =  g(n)  +  h(n)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4632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</a:rPr>
              <a:t>g(n) = cost so far   h(n) = estimated cost to goal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841248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548640" y="29992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</a:rPr>
              <a:t>How A* Works — Step by Step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42900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①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342900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Start at initial node. Put it in the OPEN list with f(start) = g(start) + h(start)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69417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②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96112" y="369417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Pick the node with the lowest f(n) from OPEN. If it's the goal → done!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95935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③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96112" y="395935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Move it to CLOSED. Expand its neighbors; calculate f(n) for each.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22452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④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6112" y="422452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Add neighbors to OPEN if not already visited (or update if better path found).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489704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⑤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6112" y="44897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Repeat from step ② until goal is found or OPEN is empty (no solution).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CEFCD7-F65E-4C56-80F2-1F92A5088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F0FF243-0E16-78FD-19CA-6E73080A7468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9A0201-985A-354B-7DFE-3B1CD246987F}"/>
              </a:ext>
            </a:extLst>
          </p:cNvPr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⭐  Informed Search — Heuristics &amp; A*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B37DEE3-9DC1-2725-C5B3-E4B51256D3AE}"/>
              </a:ext>
            </a:extLst>
          </p:cNvPr>
          <p:cNvSpPr/>
          <p:nvPr/>
        </p:nvSpPr>
        <p:spPr>
          <a:xfrm>
            <a:off x="365760" y="978408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EA9E671-F91B-6825-7216-D6CDA5DA834F}"/>
              </a:ext>
            </a:extLst>
          </p:cNvPr>
          <p:cNvSpPr/>
          <p:nvPr/>
        </p:nvSpPr>
        <p:spPr>
          <a:xfrm>
            <a:off x="365760" y="9784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Informed Search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377A940-3DCA-A7A5-87A9-E87E5B272D18}"/>
              </a:ext>
            </a:extLst>
          </p:cNvPr>
          <p:cNvSpPr/>
          <p:nvPr/>
        </p:nvSpPr>
        <p:spPr>
          <a:xfrm>
            <a:off x="1965960" y="9784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</a:rPr>
              <a:t>Uses problem-specific knowledge (heuristics) to guide the search toward the goal more efficiently.</a:t>
            </a:r>
            <a:endParaRPr lang="en-US" sz="1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9D5DE6D-BA6F-2749-6053-ED3138A4665A}"/>
              </a:ext>
            </a:extLst>
          </p:cNvPr>
          <p:cNvSpPr/>
          <p:nvPr/>
        </p:nvSpPr>
        <p:spPr>
          <a:xfrm>
            <a:off x="457200" y="1316736"/>
            <a:ext cx="4114800" cy="1371600"/>
          </a:xfrm>
          <a:prstGeom prst="rect">
            <a:avLst/>
          </a:prstGeom>
          <a:solidFill>
            <a:srgbClr val="1A2B5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E17EC97-37E4-86D0-AA5E-4C14C0827C40}"/>
              </a:ext>
            </a:extLst>
          </p:cNvPr>
          <p:cNvSpPr/>
          <p:nvPr/>
        </p:nvSpPr>
        <p:spPr>
          <a:xfrm>
            <a:off x="4846320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A* Formula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2F158C4-5F6D-7DEA-9133-52A2D903C093}"/>
              </a:ext>
            </a:extLst>
          </p:cNvPr>
          <p:cNvSpPr/>
          <p:nvPr/>
        </p:nvSpPr>
        <p:spPr>
          <a:xfrm>
            <a:off x="960120" y="152247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f(n)  =  g(n)  +  h(n)</a:t>
            </a:r>
            <a:endParaRPr lang="en-US" sz="2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813F50B-FA06-69A7-E0AF-AFD9DDDCEBC4}"/>
              </a:ext>
            </a:extLst>
          </p:cNvPr>
          <p:cNvSpPr/>
          <p:nvPr/>
        </p:nvSpPr>
        <p:spPr>
          <a:xfrm>
            <a:off x="960120" y="20711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</a:rPr>
              <a:t>g(n) = cost so far   h(n) = estimated cost to goal</a:t>
            </a:r>
            <a:endParaRPr lang="en-US" sz="1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0F74AA7-A7C9-5E01-361E-141FBAF5A414}"/>
              </a:ext>
            </a:extLst>
          </p:cNvPr>
          <p:cNvSpPr/>
          <p:nvPr/>
        </p:nvSpPr>
        <p:spPr>
          <a:xfrm>
            <a:off x="548640" y="29992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</a:rPr>
              <a:t>How A* Works — Step by Step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C44BE3E-DCB1-7F86-DEED-157409AC1349}"/>
              </a:ext>
            </a:extLst>
          </p:cNvPr>
          <p:cNvSpPr/>
          <p:nvPr/>
        </p:nvSpPr>
        <p:spPr>
          <a:xfrm>
            <a:off x="896112" y="342900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Start at initial node. Put it in the OPEN list with f(start) = g(start) + h(start)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2E43F37-86CD-922C-A0F2-8E91CB9E19ED}"/>
              </a:ext>
            </a:extLst>
          </p:cNvPr>
          <p:cNvSpPr/>
          <p:nvPr/>
        </p:nvSpPr>
        <p:spPr>
          <a:xfrm>
            <a:off x="896112" y="369417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Pick the node with the lowest f(n) from OPEN. If it's the goal → done!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0BA884F-93F3-21FB-DBB8-946DCA1BBB43}"/>
              </a:ext>
            </a:extLst>
          </p:cNvPr>
          <p:cNvSpPr/>
          <p:nvPr/>
        </p:nvSpPr>
        <p:spPr>
          <a:xfrm>
            <a:off x="896112" y="395935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Move it to CLOSED. Expand its neighbors; calculate f(n) for each.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6A0FB3E-55EB-6FB5-27FB-C1A698666155}"/>
              </a:ext>
            </a:extLst>
          </p:cNvPr>
          <p:cNvSpPr/>
          <p:nvPr/>
        </p:nvSpPr>
        <p:spPr>
          <a:xfrm>
            <a:off x="896112" y="422452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Add neighbors to OPEN if not already visited (or update if better path found).</a:t>
            </a: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C2885B5-A383-E82A-14E7-424E7C97141A}"/>
              </a:ext>
            </a:extLst>
          </p:cNvPr>
          <p:cNvSpPr/>
          <p:nvPr/>
        </p:nvSpPr>
        <p:spPr>
          <a:xfrm>
            <a:off x="896112" y="44897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Repeat from step ② until goal is found or OPEN is empty (no solution).</a:t>
            </a:r>
            <a:endParaRPr lang="en-US" sz="1000" dirty="0"/>
          </a:p>
        </p:txBody>
      </p:sp>
      <p:pic>
        <p:nvPicPr>
          <p:cNvPr id="26" name="Picture 25" descr="A diagram of a tree with numbers and circles&#10;&#10;AI-generated content may be incorrect.">
            <a:extLst>
              <a:ext uri="{FF2B5EF4-FFF2-40B4-BE49-F238E27FC236}">
                <a16:creationId xmlns:a16="http://schemas.microsoft.com/office/drawing/2014/main" id="{739B76E6-560A-2C32-02F7-FADC3F7C32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67" r="25319"/>
          <a:stretch>
            <a:fillRect/>
          </a:stretch>
        </p:blipFill>
        <p:spPr>
          <a:xfrm>
            <a:off x="4846320" y="1271016"/>
            <a:ext cx="4233672" cy="387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777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🇳🇬  Classic A*  Search Example: Nigeria Route-Finding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877949"/>
            <a:ext cx="5120640" cy="1584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1E293B"/>
                </a:solidFill>
              </a:rPr>
              <a:t>Goal: Find the shortest road path from Abuja to Lagos</a:t>
            </a:r>
            <a:endParaRPr lang="en-US" sz="2800" dirty="0"/>
          </a:p>
          <a:p>
            <a:pPr marL="0" indent="0">
              <a:buNone/>
            </a:pPr>
            <a:r>
              <a:rPr lang="en-US" sz="2800" i="1" dirty="0">
                <a:solidFill>
                  <a:srgbClr val="1E293B"/>
                </a:solidFill>
              </a:rPr>
              <a:t>h(n) = approximate straight-line distance to Lagos (admissible heuristic)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3794760" y="868680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Kaduna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03520" y="1417320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Lafia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943690" y="1504188"/>
            <a:ext cx="2606040" cy="35158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1" name="Text 49"/>
          <p:cNvSpPr/>
          <p:nvPr/>
        </p:nvSpPr>
        <p:spPr>
          <a:xfrm>
            <a:off x="6382512" y="14630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A* Result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382512" y="18928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Path Found: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382512" y="226771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Abuja →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382512" y="272491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Lokoja →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382512" y="318211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Ibadan →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382512" y="363931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</a:rPr>
              <a:t>Lagos ✓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382512" y="4206240"/>
            <a:ext cx="224028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8" name="Text 56"/>
          <p:cNvSpPr/>
          <p:nvPr/>
        </p:nvSpPr>
        <p:spPr>
          <a:xfrm>
            <a:off x="6382512" y="42793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Total: ~618 km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(Optimal Path)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65760" y="480060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9E0B"/>
                </a:solidFill>
              </a:rPr>
              <a:t>★ Best path highlighted in orange  ·  Distances are approximate road km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📊  Search Algorithms — Full Comparison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965960" cy="457200"/>
          </a:xfrm>
          <a:prstGeom prst="rect">
            <a:avLst/>
          </a:prstGeom>
          <a:solidFill>
            <a:srgbClr val="1A2B5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Algorithm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31720" y="1051560"/>
            <a:ext cx="1234440" cy="457200"/>
          </a:xfrm>
          <a:prstGeom prst="rect">
            <a:avLst/>
          </a:prstGeom>
          <a:solidFill>
            <a:srgbClr val="1A2B5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2377440" y="1051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Complete?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11880" y="1051560"/>
            <a:ext cx="1874520" cy="457200"/>
          </a:xfrm>
          <a:prstGeom prst="rect">
            <a:avLst/>
          </a:prstGeom>
          <a:solidFill>
            <a:srgbClr val="1A2B5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3657600" y="1051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Optimal?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32120" y="1051560"/>
            <a:ext cx="868680" cy="457200"/>
          </a:xfrm>
          <a:prstGeom prst="rect">
            <a:avLst/>
          </a:prstGeom>
          <a:solidFill>
            <a:srgbClr val="1A2B5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5577840" y="1051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Time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051560"/>
            <a:ext cx="868680" cy="457200"/>
          </a:xfrm>
          <a:prstGeom prst="rect">
            <a:avLst/>
          </a:prstGeom>
          <a:solidFill>
            <a:srgbClr val="1A2B5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6492240" y="1051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Space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60920" y="1051560"/>
            <a:ext cx="1600200" cy="457200"/>
          </a:xfrm>
          <a:prstGeom prst="rect">
            <a:avLst/>
          </a:prstGeom>
          <a:solidFill>
            <a:srgbClr val="1A2B5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7406640" y="1051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Uses Heuristic?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554480"/>
            <a:ext cx="1965960" cy="512064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365760" y="155448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BFS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331720" y="1554480"/>
            <a:ext cx="1234440" cy="512064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2377440" y="155448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A34A"/>
                </a:solidFill>
              </a:rPr>
              <a:t>✅ Yes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11880" y="1554480"/>
            <a:ext cx="1874520" cy="512064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3657600" y="155448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A34A"/>
                </a:solidFill>
              </a:rPr>
              <a:t>✅ Yes (unweighted)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32120" y="1554480"/>
            <a:ext cx="868680" cy="512064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5577840" y="155448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O(b^d)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46520" y="1554480"/>
            <a:ext cx="868680" cy="512064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6492240" y="155448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O(b^d)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60920" y="1554480"/>
            <a:ext cx="1600200" cy="512064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7406640" y="155448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2626"/>
                </a:solidFill>
              </a:rPr>
              <a:t>❌ No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2103120"/>
            <a:ext cx="196596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365760" y="210312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DFS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331720" y="2103120"/>
            <a:ext cx="123444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2377440" y="210312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⚠️ Finite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11880" y="2103120"/>
            <a:ext cx="187452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3" name="Text 31"/>
          <p:cNvSpPr/>
          <p:nvPr/>
        </p:nvSpPr>
        <p:spPr>
          <a:xfrm>
            <a:off x="3657600" y="210312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2626"/>
                </a:solidFill>
              </a:rPr>
              <a:t>❌ No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32120" y="2103120"/>
            <a:ext cx="86868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5" name="Text 33"/>
          <p:cNvSpPr/>
          <p:nvPr/>
        </p:nvSpPr>
        <p:spPr>
          <a:xfrm>
            <a:off x="5577840" y="210312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O(b^m)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46520" y="2103120"/>
            <a:ext cx="86868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7" name="Text 35"/>
          <p:cNvSpPr/>
          <p:nvPr/>
        </p:nvSpPr>
        <p:spPr>
          <a:xfrm>
            <a:off x="6492240" y="210312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O(bm)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360920" y="2103120"/>
            <a:ext cx="160020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9" name="Text 37"/>
          <p:cNvSpPr/>
          <p:nvPr/>
        </p:nvSpPr>
        <p:spPr>
          <a:xfrm>
            <a:off x="7406640" y="210312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2626"/>
                </a:solidFill>
              </a:rPr>
              <a:t>❌ No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2651760"/>
            <a:ext cx="1965960" cy="512064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41" name="Text 39"/>
          <p:cNvSpPr/>
          <p:nvPr/>
        </p:nvSpPr>
        <p:spPr>
          <a:xfrm>
            <a:off x="365760" y="265176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Depth-Limited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331720" y="2651760"/>
            <a:ext cx="1234440" cy="512064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43" name="Text 41"/>
          <p:cNvSpPr/>
          <p:nvPr/>
        </p:nvSpPr>
        <p:spPr>
          <a:xfrm>
            <a:off x="2377440" y="265176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⚠️ Yes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11880" y="2651760"/>
            <a:ext cx="1874520" cy="512064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45" name="Text 43"/>
          <p:cNvSpPr/>
          <p:nvPr/>
        </p:nvSpPr>
        <p:spPr>
          <a:xfrm>
            <a:off x="3657600" y="265176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2626"/>
                </a:solidFill>
              </a:rPr>
              <a:t>❌ No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532120" y="2651760"/>
            <a:ext cx="868680" cy="512064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47" name="Text 45"/>
          <p:cNvSpPr/>
          <p:nvPr/>
        </p:nvSpPr>
        <p:spPr>
          <a:xfrm>
            <a:off x="5577840" y="265176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O(b^l)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46520" y="2651760"/>
            <a:ext cx="868680" cy="512064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49" name="Text 47"/>
          <p:cNvSpPr/>
          <p:nvPr/>
        </p:nvSpPr>
        <p:spPr>
          <a:xfrm>
            <a:off x="6492240" y="265176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O(bl)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360920" y="2651760"/>
            <a:ext cx="1600200" cy="512064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1" name="Text 49"/>
          <p:cNvSpPr/>
          <p:nvPr/>
        </p:nvSpPr>
        <p:spPr>
          <a:xfrm>
            <a:off x="7406640" y="265176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2626"/>
                </a:solidFill>
              </a:rPr>
              <a:t>❌ No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0040" y="3200400"/>
            <a:ext cx="196596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3" name="Text 51"/>
          <p:cNvSpPr/>
          <p:nvPr/>
        </p:nvSpPr>
        <p:spPr>
          <a:xfrm>
            <a:off x="365760" y="320040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Iterative Deep.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331720" y="3200400"/>
            <a:ext cx="123444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5" name="Text 53"/>
          <p:cNvSpPr/>
          <p:nvPr/>
        </p:nvSpPr>
        <p:spPr>
          <a:xfrm>
            <a:off x="2377440" y="32004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A34A"/>
                </a:solidFill>
              </a:rPr>
              <a:t>✅ Yes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11880" y="3200400"/>
            <a:ext cx="187452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7" name="Text 55"/>
          <p:cNvSpPr/>
          <p:nvPr/>
        </p:nvSpPr>
        <p:spPr>
          <a:xfrm>
            <a:off x="3657600" y="320040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A34A"/>
                </a:solidFill>
              </a:rPr>
              <a:t>✅ Yes (unweighted)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532120" y="3200400"/>
            <a:ext cx="86868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9" name="Text 57"/>
          <p:cNvSpPr/>
          <p:nvPr/>
        </p:nvSpPr>
        <p:spPr>
          <a:xfrm>
            <a:off x="5577840" y="320040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O(b^d)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446520" y="3200400"/>
            <a:ext cx="86868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61" name="Text 59"/>
          <p:cNvSpPr/>
          <p:nvPr/>
        </p:nvSpPr>
        <p:spPr>
          <a:xfrm>
            <a:off x="6492240" y="320040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O(bd)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360920" y="3200400"/>
            <a:ext cx="160020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63" name="Text 61"/>
          <p:cNvSpPr/>
          <p:nvPr/>
        </p:nvSpPr>
        <p:spPr>
          <a:xfrm>
            <a:off x="7406640" y="320040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2626"/>
                </a:solidFill>
              </a:rPr>
              <a:t>❌ No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20040" y="3749040"/>
            <a:ext cx="1965960" cy="512064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65" name="Text 63"/>
          <p:cNvSpPr/>
          <p:nvPr/>
        </p:nvSpPr>
        <p:spPr>
          <a:xfrm>
            <a:off x="365760" y="374904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Greedy Best-F.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331720" y="3749040"/>
            <a:ext cx="1234440" cy="512064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67" name="Text 65"/>
          <p:cNvSpPr/>
          <p:nvPr/>
        </p:nvSpPr>
        <p:spPr>
          <a:xfrm>
            <a:off x="2377440" y="374904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⚠️ Yes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611880" y="3749040"/>
            <a:ext cx="1874520" cy="512064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69" name="Text 67"/>
          <p:cNvSpPr/>
          <p:nvPr/>
        </p:nvSpPr>
        <p:spPr>
          <a:xfrm>
            <a:off x="3657600" y="374904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2626"/>
                </a:solidFill>
              </a:rPr>
              <a:t>❌ No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532120" y="3749040"/>
            <a:ext cx="868680" cy="512064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1" name="Text 69"/>
          <p:cNvSpPr/>
          <p:nvPr/>
        </p:nvSpPr>
        <p:spPr>
          <a:xfrm>
            <a:off x="5577840" y="374904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O(b^m)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446520" y="3749040"/>
            <a:ext cx="868680" cy="512064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3" name="Text 71"/>
          <p:cNvSpPr/>
          <p:nvPr/>
        </p:nvSpPr>
        <p:spPr>
          <a:xfrm>
            <a:off x="6492240" y="374904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O(b^m)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360920" y="3749040"/>
            <a:ext cx="1600200" cy="512064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5" name="Text 73"/>
          <p:cNvSpPr/>
          <p:nvPr/>
        </p:nvSpPr>
        <p:spPr>
          <a:xfrm>
            <a:off x="7406640" y="374904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A34A"/>
                </a:solidFill>
              </a:rPr>
              <a:t>✅ Yes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20040" y="4297680"/>
            <a:ext cx="1965960" cy="512064"/>
          </a:xfrm>
          <a:prstGeom prst="rect">
            <a:avLst/>
          </a:prstGeom>
          <a:solidFill>
            <a:srgbClr val="E0F2F1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7" name="Text 75"/>
          <p:cNvSpPr/>
          <p:nvPr/>
        </p:nvSpPr>
        <p:spPr>
          <a:xfrm>
            <a:off x="365760" y="429768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A*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331720" y="4297680"/>
            <a:ext cx="1234440" cy="512064"/>
          </a:xfrm>
          <a:prstGeom prst="rect">
            <a:avLst/>
          </a:prstGeom>
          <a:solidFill>
            <a:srgbClr val="E0F2F1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9" name="Text 77"/>
          <p:cNvSpPr/>
          <p:nvPr/>
        </p:nvSpPr>
        <p:spPr>
          <a:xfrm>
            <a:off x="2377440" y="429768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A34A"/>
                </a:solidFill>
              </a:rPr>
              <a:t>✅ Yes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3611880" y="4297680"/>
            <a:ext cx="1874520" cy="512064"/>
          </a:xfrm>
          <a:prstGeom prst="rect">
            <a:avLst/>
          </a:prstGeom>
          <a:solidFill>
            <a:srgbClr val="E0F2F1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1" name="Text 79"/>
          <p:cNvSpPr/>
          <p:nvPr/>
        </p:nvSpPr>
        <p:spPr>
          <a:xfrm>
            <a:off x="3657600" y="429768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A34A"/>
                </a:solidFill>
              </a:rPr>
              <a:t>✅ Yes (admissible h)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532120" y="4297680"/>
            <a:ext cx="868680" cy="512064"/>
          </a:xfrm>
          <a:prstGeom prst="rect">
            <a:avLst/>
          </a:prstGeom>
          <a:solidFill>
            <a:srgbClr val="E0F2F1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3" name="Text 81"/>
          <p:cNvSpPr/>
          <p:nvPr/>
        </p:nvSpPr>
        <p:spPr>
          <a:xfrm>
            <a:off x="5577840" y="429768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O(b^d)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446520" y="4297680"/>
            <a:ext cx="868680" cy="512064"/>
          </a:xfrm>
          <a:prstGeom prst="rect">
            <a:avLst/>
          </a:prstGeom>
          <a:solidFill>
            <a:srgbClr val="E0F2F1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5" name="Text 83"/>
          <p:cNvSpPr/>
          <p:nvPr/>
        </p:nvSpPr>
        <p:spPr>
          <a:xfrm>
            <a:off x="6492240" y="429768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O(b^d)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7360920" y="4297680"/>
            <a:ext cx="1600200" cy="512064"/>
          </a:xfrm>
          <a:prstGeom prst="rect">
            <a:avLst/>
          </a:prstGeom>
          <a:solidFill>
            <a:srgbClr val="E0F2F1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7" name="Text 85"/>
          <p:cNvSpPr/>
          <p:nvPr/>
        </p:nvSpPr>
        <p:spPr>
          <a:xfrm>
            <a:off x="7406640" y="429768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A34A"/>
                </a:solidFill>
              </a:rPr>
              <a:t>✅ Yes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</a:rPr>
              <a:t>⭐ A* is the gold standard for informed search — complete, optimal, and efficient when h(n) is admissible.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EAD4"/>
                </a:solidFill>
              </a:rPr>
              <a:t>💻  Practical Lab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Google Colab Exercises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8229600" cy="685800"/>
          </a:xfrm>
          <a:prstGeom prst="rect">
            <a:avLst/>
          </a:prstGeom>
          <a:solidFill>
            <a:srgbClr val="152244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09728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658368" y="1572768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</a:rPr>
              <a:t>Lab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1572768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Implement BFS from Scratch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5280" y="1773936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7955280" y="17739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~20 min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00" cy="685800"/>
          </a:xfrm>
          <a:prstGeom prst="rect">
            <a:avLst/>
          </a:prstGeom>
          <a:solidFill>
            <a:srgbClr val="152244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109728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658368" y="237744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</a:rPr>
              <a:t>Lab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23774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Implement DFS from Scratch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55280" y="2578608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7955280" y="2578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~15 min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182112"/>
            <a:ext cx="8229600" cy="685800"/>
          </a:xfrm>
          <a:prstGeom prst="rect">
            <a:avLst/>
          </a:prstGeom>
          <a:solidFill>
            <a:srgbClr val="152244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9" name="Shape 17"/>
          <p:cNvSpPr/>
          <p:nvPr/>
        </p:nvSpPr>
        <p:spPr>
          <a:xfrm>
            <a:off x="457200" y="3182112"/>
            <a:ext cx="109728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658368" y="3182112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</a:rPr>
              <a:t>Lab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72768" y="318211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A* Search on Nigeria Road Map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955280" y="3383280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7955280" y="3383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~25 min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86784"/>
            <a:ext cx="8229600" cy="685800"/>
          </a:xfrm>
          <a:prstGeom prst="rect">
            <a:avLst/>
          </a:prstGeom>
          <a:solidFill>
            <a:srgbClr val="1A3A2A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5" name="Shape 23"/>
          <p:cNvSpPr/>
          <p:nvPr/>
        </p:nvSpPr>
        <p:spPr>
          <a:xfrm>
            <a:off x="457200" y="3986784"/>
            <a:ext cx="109728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6" name="Text 24"/>
          <p:cNvSpPr/>
          <p:nvPr/>
        </p:nvSpPr>
        <p:spPr>
          <a:xfrm>
            <a:off x="658368" y="3986784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</a:rPr>
              <a:t>Bonus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72768" y="3986784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Visualize Search with NetworkX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55280" y="4187952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7955280" y="4187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~15 min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80A0"/>
                </a:solidFill>
              </a:rPr>
              <a:t>Open Colab: colab.research.google.com  ·  Sign in with Google  ·  New Notebook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💻  Lab 1 — Implement BFS in Python (Colab)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Lab 1 of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00200" y="98755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</a:rPr>
              <a:t>Task: Find path from 'A' to 'G' in a sample graph using BFS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303520" cy="35661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475488" y="1463040"/>
            <a:ext cx="508406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'A': ['B', 'C'],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'B': ['D', 'E'],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'C': ['F', 'G'],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'D': [], 'E': [], 'F': [], 'G': []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bfs(graph, start, goal):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queue = deque([[start]])           # queue of PATHS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 = set()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queue: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path = queue.popleft()         # get next path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 = path[-1]                # current node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node == goal: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path                # FOUND! return path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node not in visited: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visited.add(node)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neighbor in graph[node]: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new_path = path + [neighbor]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queue.append(</a:t>
            </a:r>
            <a:r>
              <a:rPr lang="en-US" sz="800" dirty="0" err="1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new_path</a:t>
            </a: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None   # no path found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bfs(graph, 'A', 'G')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print("BFS Path:", result)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Expected output: BFS Path: ['A', 'C', 'G']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30175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5943600" y="1463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✏️  Your Exercises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1. Run the code — what path does BFS return?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24871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2. Add a node 'H' connected to 'D'. Does BFS still find the shortest path?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305409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3. Change goal to 'E'. What is the new path?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362102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4. Count how many nodes BFS visits before finding the goal.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4187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5. CHALLENGE: Modify BFS to work on a weighted graph (ignore weights for now).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💻  Lab 2 — Implement DFS in Python (Colab)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Lab 2 of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00200" y="98755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</a:rPr>
              <a:t>Task: Find path from 'A' to 'G' using DFS — notice the difference from BFS!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303520" cy="35661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475488" y="1463040"/>
            <a:ext cx="508406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'A': ['B', 'C'],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'B': ['D', 'E'],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'C': ['F', 'G'],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'D': [], 'E': [], 'F': [], 'G': []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dfs(graph, start, goal, path=None, visited=None):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path is None:    path = [start]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visited is None: visited = set()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start == goal: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path          # FOUND!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visited.add(start)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neighbor in graph[start]: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neighbor not in visited: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 = dfs(graph, neighbor, goal,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path + [neighbor], visited)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result: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return result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None   # dead end — backtrack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dfs(graph, 'A', 'G')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print("DFS Path:", result)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DFS Path: ['A', 'B', 'D', ...] or ['A', 'C', 'G']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(depends on graph order — DFS goes DEEP first!)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30175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 dirty="0"/>
          </a:p>
        </p:txBody>
      </p:sp>
      <p:sp>
        <p:nvSpPr>
          <p:cNvPr id="10" name="Text 8"/>
          <p:cNvSpPr/>
          <p:nvPr/>
        </p:nvSpPr>
        <p:spPr>
          <a:xfrm>
            <a:off x="5943600" y="1463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✏️  Compare BFS vs DFS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1. Run DFS. Which path does it return?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24871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2. Is DFS's path the shortest? Why/why not?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305409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3. Add 'A': ['C', 'B'] (swap order). What changes?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362102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4. Try a graph with a cycle — does DFS get stuck? Fix it!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4187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5. CHALLENGE: Implement iterative DFS using a Stack (list) instead of recursion.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💻  Lab 3 — A* Search: Abuja to Lagos (Colab)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Lab 3 of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00200" y="98755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</a:rPr>
              <a:t>Task: Use A* to find the optimal road route from Abuja to Lagos using straight-line distance as h(n)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577840" cy="35661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475488" y="1463039"/>
            <a:ext cx="5358384" cy="591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heapq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Straight-line distances to Lagos (heuristic h(n), in km)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'Abuja':530, 'Kaduna':660, 'Lafia':545,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'Lokoja':380, 'Okene':320, 'Benin':275,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'Ibadan':128, 'Lagos':0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Road network: (neighbor, road_distance_km)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'Abuja':   [('Kaduna',185),('Lafia',170),('Lokoja',180)],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'Kaduna':  [('Abuja',185),('Lokoja',310)],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'Lafia':   [('Abuja',170)],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'Lokoja':  [('Abuja',180),('Kaduna',310),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('Okene',82),('Ibadan',310)],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'Okene':   [('Lokoja',82),('Benin',150)],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'Benin':   [('Okene',150),('Lagos',340)],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'Ibadan':  [('Lokoja',310),('Lagos',128)],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'Lagos':   [('Ibadan',128),('Benin',340)],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astar(start, goal):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open_list = [(h[start], 0, start, [start])]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 = set()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open_list: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f, g, node, path = heapq.heappop(open_list)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node == goal: return path, 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node in visited: continue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visited.add(node)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neighbor, cost in graph.get(node, []):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neighbor not in visited: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ng = g + cost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nf = ng + h.get(neighbor, 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heapq.heappush(open_list,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(nf, ng, neighbor, path+[neighbor]))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None, float('inf')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path, cost = astar('Abuja', 'Lagos')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print(f"Path: {path}")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print(f"Total distance: {cost} km")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Expected: Abuja → Lokoja → Ibadan → Lagos (~618 km)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80760" y="1371600"/>
            <a:ext cx="27432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6217920" y="14630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✏️  Exercises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1. Run A*. Which path does it return?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24871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2. Is Abuja→Lokoja→Ibadan→Lagos optimal? Why?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305409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3. Set h('Lokoja') = 0. Does A* still find the best path?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362102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4. Remove the Ibadan route — what new path does A* find?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418795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5. CHALLENGE: Add Ilorin (Lokoja→Ilorin: 190km, Ilorin→Lagos: 300km) and rerun.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🎯  Week 2 Key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713232"/>
          </a:xfrm>
          <a:prstGeom prst="rect">
            <a:avLst/>
          </a:prstGeom>
          <a:solidFill>
            <a:srgbClr val="152244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09728" cy="7132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566928" y="1005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</a:rPr>
              <a:t>🔍 Search is fundamental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3441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8"/>
                </a:solidFill>
              </a:rPr>
              <a:t>AI uses search to find sequences of actions that lead from an initial state to a goal state.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8412480" cy="713232"/>
          </a:xfrm>
          <a:prstGeom prst="rect">
            <a:avLst/>
          </a:prstGeom>
          <a:solidFill>
            <a:srgbClr val="152244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9" name="Shape 7"/>
          <p:cNvSpPr/>
          <p:nvPr/>
        </p:nvSpPr>
        <p:spPr>
          <a:xfrm>
            <a:off x="365760" y="1764792"/>
            <a:ext cx="109728" cy="7132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566928" y="18105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</a:rPr>
              <a:t>🌊 BFS = Breadth first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148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8"/>
                </a:solidFill>
              </a:rPr>
              <a:t>Explores level by level. Complete &amp; optimal (unweighted). Uses a Queue. High memory.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69464"/>
            <a:ext cx="8412480" cy="713232"/>
          </a:xfrm>
          <a:prstGeom prst="rect">
            <a:avLst/>
          </a:prstGeom>
          <a:solidFill>
            <a:srgbClr val="152244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365760" y="2569464"/>
            <a:ext cx="109728" cy="7132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566928" y="26151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</a:rPr>
              <a:t>🕳️ DFS = Depth first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29535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8"/>
                </a:solidFill>
              </a:rPr>
              <a:t>Explores deep before wide. Low memory but not optimal. Uses a Stack or recursion.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74136"/>
            <a:ext cx="8412480" cy="713232"/>
          </a:xfrm>
          <a:prstGeom prst="rect">
            <a:avLst/>
          </a:prstGeom>
          <a:solidFill>
            <a:srgbClr val="152244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365760" y="3374136"/>
            <a:ext cx="109728" cy="7132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566928" y="34198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</a:rPr>
              <a:t>⭐ A* = Best of both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37581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8"/>
                </a:solidFill>
              </a:rPr>
              <a:t>Uses f(n) = g(n) + h(n). Complete and optimal when h(n) is admissible. The go-to algorithm.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78808"/>
            <a:ext cx="8412480" cy="713232"/>
          </a:xfrm>
          <a:prstGeom prst="rect">
            <a:avLst/>
          </a:prstGeom>
          <a:solidFill>
            <a:srgbClr val="152244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365760" y="4178808"/>
            <a:ext cx="109728" cy="7132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566928" y="4224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</a:rPr>
              <a:t>📐 Heuristics matter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45628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8"/>
                </a:solidFill>
              </a:rPr>
              <a:t>A good h(n) can dramatically speed up A*. Bad heuristics can make it slower than BFS.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80A0"/>
                </a:solidFill>
              </a:rPr>
              <a:t>📖 Reading: Russell &amp; Norvig Ch. 3 (Uninformed) &amp; Ch. 4 (Informed)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2529</Words>
  <Application>Microsoft Macintosh PowerPoint</Application>
  <PresentationFormat>On-screen Show (16:9)</PresentationFormat>
  <Paragraphs>398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 810 AI – Week 2: Search Techniques &amp; Problem Solving</dc:title>
  <dc:subject>PptxGenJS Presentation</dc:subject>
  <dc:creator>PptxGenJS</dc:creator>
  <cp:lastModifiedBy>D21125967 Abdullahi Abubakar Kawu</cp:lastModifiedBy>
  <cp:revision>2</cp:revision>
  <dcterms:created xsi:type="dcterms:W3CDTF">2026-05-16T11:01:58Z</dcterms:created>
  <dcterms:modified xsi:type="dcterms:W3CDTF">2026-05-16T13:32:58Z</dcterms:modified>
</cp:coreProperties>
</file>